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822960" cy="38100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9FB4F5"/>
                </a:solidFill>
                <a:latin typeface="Helvetica Neue"/>
              </a:rPr>
              <a:t>PLAN-DEFENSE COUNCIL  ·  STANDARD TIER (D56)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286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5200" b="1" i="0">
                <a:solidFill>
                  <a:srgbClr val="FFFFFF"/>
                </a:solidFill>
                <a:latin typeface="Helvetica Neue"/>
              </a:rPr>
              <a:t>Pre-Public Maintenance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0" i="0">
                <a:solidFill>
                  <a:srgbClr val="C3CCDD"/>
                </a:solidFill>
                <a:latin typeface="Helvetica Neue"/>
              </a:rPr>
              <a:t>The last sweep before the repo goes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160520"/>
            <a:ext cx="10515600" cy="15240"/>
          </a:xfrm>
          <a:prstGeom prst="rect">
            <a:avLst/>
          </a:prstGeom>
          <a:solidFill>
            <a:srgbClr val="38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9AA4B2"/>
                </a:solidFill>
                <a:latin typeface="Helvetica Neue"/>
              </a:rPr>
              <a:t>Feature  </a:t>
            </a:r>
            <a:r>
              <a:rPr sz="1400" b="1" i="0">
                <a:solidFill>
                  <a:srgbClr val="FFFFFF"/>
                </a:solidFill>
                <a:latin typeface="Helvetica Neue"/>
              </a:rPr>
              <a:t>008-pre-public-maintenance</a:t>
            </a:r>
            <a:r>
              <a:rPr sz="1400" b="0" i="0">
                <a:solidFill>
                  <a:srgbClr val="9AA4B2"/>
                </a:solidFill>
                <a:latin typeface="Helvetica Neue"/>
              </a:rPr>
              <a:t>      Scope  </a:t>
            </a:r>
            <a:r>
              <a:rPr sz="1400" b="1" i="0">
                <a:solidFill>
                  <a:srgbClr val="FFFFFF"/>
                </a:solidFill>
                <a:latin typeface="Helvetica Neue"/>
              </a:rPr>
              <a:t>6 items · 5 owner piles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9AA4B2"/>
                </a:solidFill>
                <a:latin typeface="Helvetica Neue"/>
              </a:rPr>
              <a:t>Load-bearing invariant  </a:t>
            </a:r>
            <a:r>
              <a:rPr sz="1400" b="1" i="0">
                <a:solidFill>
                  <a:srgbClr val="8FE0C0"/>
                </a:solidFill>
                <a:latin typeface="Helvetica Neue"/>
              </a:rPr>
              <a:t>no council/workforce gate semantics change (FR-015)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4B2"/>
                </a:solidFill>
                <a:latin typeface="Helvetica Neue"/>
              </a:rPr>
              <a:t>Deck: overview.md + technical.md  ·  Prepared by Session A deck-prep (Sonnet, D18)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WHAT THIS DECK DEFENDS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A bounded maintenance sweep, not a 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0151E"/>
                </a:solidFill>
                <a:latin typeface="Helvetica Neue"/>
              </a:rPr>
              <a:t>008 is the pre-public maintenance sweep the repo needs after 007 shipped the OSS front door — and before the D73 visibility flip makes the repo public.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718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5A6472"/>
                </a:solidFill>
                <a:latin typeface="Helvetica Neue"/>
              </a:rPr>
              <a:t>Six ripe items from the docs/90 “Actionable-now” cluster (D84):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29000"/>
            <a:ext cx="6675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500" b="1">
                <a:solidFill>
                  <a:srgbClr val="2F5AE0"/>
                </a:solidFill>
                <a:latin typeface="Helvetica Neue"/>
              </a:rPr>
              <a:t>US1 / P1  </a:t>
            </a:r>
            <a:r>
              <a:rPr sz="1500" b="0">
                <a:solidFill>
                  <a:srgbClr val="10151E"/>
                </a:solidFill>
                <a:latin typeface="Helvetica Neue"/>
              </a:rPr>
              <a:t>clone-free install — I-32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500" b="1">
                <a:solidFill>
                  <a:srgbClr val="2F5AE0"/>
                </a:solidFill>
                <a:latin typeface="Helvetica Neue"/>
              </a:rPr>
              <a:t>US2 / P2  </a:t>
            </a:r>
            <a:r>
              <a:rPr sz="1500" b="0">
                <a:solidFill>
                  <a:srgbClr val="10151E"/>
                </a:solidFill>
                <a:latin typeface="Helvetica Neue"/>
              </a:rPr>
              <a:t>whole-feature conformance checker — I-11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500" b="1">
                <a:solidFill>
                  <a:srgbClr val="2F5AE0"/>
                </a:solidFill>
                <a:latin typeface="Helvetica Neue"/>
              </a:rPr>
              <a:t>US3 / P3  </a:t>
            </a:r>
            <a:r>
              <a:rPr sz="1500" b="0">
                <a:solidFill>
                  <a:srgbClr val="10151E"/>
                </a:solidFill>
                <a:latin typeface="Helvetica Neue"/>
              </a:rPr>
              <a:t>four latent-defect hardenings — I-23 · I-26 · I-29 · I-31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783080"/>
            <a:ext cx="3886200" cy="4160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783080"/>
            <a:ext cx="109728" cy="4160520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5AE0"/>
                </a:solidFill>
                <a:latin typeface="Helvetica Neue"/>
              </a:rPr>
              <a:t>EVERY ITEM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514600"/>
            <a:ext cx="33832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400" b="0">
                <a:solidFill>
                  <a:srgbClr val="10151E"/>
                </a:solidFill>
                <a:latin typeface="Helvetica Neue"/>
              </a:rPr>
              <a:t>Explicitly additive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400" b="0">
                <a:solidFill>
                  <a:srgbClr val="10151E"/>
                </a:solidFill>
                <a:latin typeface="Helvetica Neue"/>
              </a:rPr>
              <a:t>Bounded &amp; pre-scoped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400" b="0">
                <a:solidFill>
                  <a:srgbClr val="10151E"/>
                </a:solidFill>
                <a:latin typeface="Helvetica Neue"/>
              </a:rPr>
              <a:t>Independently testable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0151E"/>
                </a:solidFill>
                <a:latin typeface="Helvetica Neue"/>
              </a:rPr>
              <a:t>Gate-semantics-neutral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400" b="0">
                <a:solidFill>
                  <a:srgbClr val="10151E"/>
                </a:solidFill>
                <a:latin typeface="Helvetica Neue"/>
              </a:rPr>
              <a:t>Zero new third-party deps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WHAT WE'RE BUILDING &amp;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Three rough edges an outsider would hit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3502152" cy="3977639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3502152" cy="502920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31363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I-32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42032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0151E"/>
                </a:solidFill>
                <a:latin typeface="Helvetica Neue"/>
              </a:rPr>
              <a:t>Clone-free 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00400"/>
            <a:ext cx="3099816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72"/>
                </a:solidFill>
                <a:latin typeface="Helvetica Neue"/>
              </a:rPr>
              <a:t>Today every install.sh is a pure local cp -R with no acquisition step — 007's README quickstart is only half-runnable for someone who hasn't already cloned the whole repo. Add one reviewable, pinned-ref command.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874519"/>
            <a:ext cx="3502152" cy="3977639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874519"/>
            <a:ext cx="3502152" cy="502920"/>
          </a:xfrm>
          <a:prstGeom prst="rect">
            <a:avLst/>
          </a:prstGeom>
          <a:solidFill>
            <a:srgbClr val="0E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947672"/>
            <a:ext cx="31363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I-11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542032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0151E"/>
                </a:solidFill>
                <a:latin typeface="Helvetica Neue"/>
              </a:rPr>
              <a:t>Conformance checker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3200400"/>
            <a:ext cx="3099816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72"/>
                </a:solidFill>
                <a:latin typeface="Helvetica Neue"/>
              </a:rPr>
              <a:t>The only checks that exist are per-artifact. Nothing validates a whole specs/NNN-feature/ dir against the docs/contracts/ schema set — so drift is caught by human review, not by machine.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8704" y="1874519"/>
            <a:ext cx="3502152" cy="3977639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18704" y="1874519"/>
            <a:ext cx="3502152" cy="502920"/>
          </a:xfrm>
          <a:prstGeom prst="rect">
            <a:avLst/>
          </a:prstGeom>
          <a:solidFill>
            <a:srgbClr val="C2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1947672"/>
            <a:ext cx="31363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I-23/26/29/31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2542032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0151E"/>
                </a:solidFill>
                <a:latin typeface="Helvetica Neue"/>
              </a:rPr>
              <a:t>Four hardenings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3200400"/>
            <a:ext cx="3099816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72"/>
                </a:solidFill>
                <a:latin typeface="Helvetica Neue"/>
              </a:rPr>
              <a:t>Four latent defects — each currently unhit or silently non-blocking — that would mislead an outside adopter, contributor, or auditor once the project is public. None touches who approves anything.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CHOSEN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Additive by construction — wrap, delegate, edit in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10881360" cy="9326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109728" cy="932688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151E"/>
                </a:solidFill>
                <a:latin typeface="Helvetica Neue"/>
              </a:rPr>
              <a:t>Wrap, never replace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920240"/>
            <a:ext cx="7360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472"/>
                </a:solidFill>
                <a:latin typeface="Helvetica Neue"/>
              </a:rPr>
              <a:t>bootstrap.sh adds a fetch step in front of each extension's unchanged install.sh (D45). Idempotency &amp; additivity inherited for free.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71215"/>
            <a:ext cx="10881360" cy="9326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871215"/>
            <a:ext cx="109728" cy="932688"/>
          </a:xfrm>
          <a:prstGeom prst="rect">
            <a:avLst/>
          </a:prstGeom>
          <a:solidFill>
            <a:srgbClr val="0E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99231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151E"/>
                </a:solidFill>
                <a:latin typeface="Helvetica Neue"/>
              </a:rPr>
              <a:t>Delegate, never duplicate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962655"/>
            <a:ext cx="7360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472"/>
                </a:solidFill>
                <a:latin typeface="Helvetica Neue"/>
              </a:rPr>
              <a:t>check-conformance.py shells out to the 3 existing validators for their artifacts; direct-checks the remaining 6 docs/contracts/ schemas (FR-008).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913630"/>
            <a:ext cx="10881360" cy="9326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913630"/>
            <a:ext cx="109728" cy="932688"/>
          </a:xfrm>
          <a:prstGeom prst="rect">
            <a:avLst/>
          </a:prstGeom>
          <a:solidFill>
            <a:srgbClr val="C2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41646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151E"/>
                </a:solidFill>
                <a:latin typeface="Helvetica Neue"/>
              </a:rPr>
              <a:t>Surgical, graph-confirmed 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005070"/>
            <a:ext cx="7360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472"/>
                </a:solidFill>
                <a:latin typeface="Helvetica Neue"/>
              </a:rPr>
              <a:t>Four hardenings are single-site edits at graph-verified locations, each landing with a both-branch committed fixture — two exceptions surfaced honestly (§7).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956045"/>
            <a:ext cx="10881360" cy="9326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956045"/>
            <a:ext cx="109728" cy="932688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084061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151E"/>
                </a:solidFill>
                <a:latin typeface="Helvetica Neue"/>
              </a:rPr>
              <a:t>Nothing new at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5047485"/>
            <a:ext cx="7360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472"/>
                </a:solidFill>
                <a:latin typeface="Helvetica Neue"/>
              </a:rPr>
              <a:t>No new pipeline phase, no new session role, no model invocation. Bash (POSIX sh) + Python-3-stdlib only — zero new third-party deps.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REJECTED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What we deliberately did not do (I-32 &amp; I-11)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828800"/>
          <a:ext cx="10881360" cy="4133088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Alternative</a:t>
                      </a:r>
                    </a:p>
                  </a:txBody>
                  <a:tcPr anchor="ctr" marL="82296" marR="82296" marT="36576" marB="36576">
                    <a:solidFill>
                      <a:srgbClr val="1015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Why rejected</a:t>
                      </a:r>
                    </a:p>
                  </a:txBody>
                  <a:tcPr anchor="ctr" marL="82296" marR="82296" marT="36576" marB="36576">
                    <a:solidFill>
                      <a:srgbClr val="10151E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0151E"/>
                          </a:solidFill>
                          <a:latin typeface="Helvetica Neue"/>
                        </a:rPr>
                        <a:t>curl | bash opaque pipe as the primary install path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A6472"/>
                          </a:solidFill>
                          <a:latin typeface="Helvetica Neue"/>
                        </a:rPr>
                        <a:t>The exact blind-pipe posture the spec's Edge Case flags — kept only as an optional convenience line, never sole instruction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0151E"/>
                          </a:solidFill>
                          <a:latin typeface="Helvetica Neue"/>
                        </a:rPr>
                        <a:t>GitHub-release tarball + checksum/signature pinning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A6472"/>
                          </a:solidFill>
                          <a:latin typeface="Helvetica Neue"/>
                        </a:rPr>
                        <a:t>Strongest supply-chain posture, but needs release infra the pre-public repo lacks; over-scopes a sweep. Pinned-ref leaves room to add later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0151E"/>
                          </a:solidFill>
                          <a:latin typeface="Helvetica Neue"/>
                        </a:rPr>
                        <a:t>Fork the local install logic into bootstrap.sh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A6472"/>
                          </a:solidFill>
                          <a:latin typeface="Helvetica Neue"/>
                        </a:rPr>
                        <a:t>Violates additivity/DRY — a second installer to keep in sync, the exact divergence class I-23 fixes elsewhere in this feature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0151E"/>
                          </a:solidFill>
                          <a:latin typeface="Helvetica Neue"/>
                        </a:rPr>
                        <a:t>A new tools/ or scripts/ home for the checker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A6472"/>
                          </a:solidFill>
                          <a:latin typeface="Helvetica Neue"/>
                        </a:rPr>
                        <a:t>Repo has no such dir; convention is extensions/*/. A new top-level home for one script over-scopes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0151E"/>
                          </a:solidFill>
                          <a:latin typeface="Helvetica Neue"/>
                        </a:rPr>
                        <a:t>Re-implement profile/categorization/skill checks in the checker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A6472"/>
                          </a:solidFill>
                          <a:latin typeface="Helvetica Neue"/>
                        </a:rPr>
                        <a:t>Rejected by FR-008 — duplication invites the manifest-vs-block divergence I-23 fights; delegation keeps one source of truth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172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9AA4B2"/>
                </a:solidFill>
                <a:latin typeface="Helvetica Neue"/>
              </a:rPr>
              <a:t>Full 7-row list — including “replace the local install.sh” and “revive the M0 fixture-coupled verifier” — in technical.md §2.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ARCHITECTURE &amp; DATA FLOW — 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bootstrap.sh clone-free install (I-32)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472"/>
                </a:solidFill>
                <a:latin typeface="Helvetica Neue"/>
              </a:rPr>
              <a:t>State machine   </a:t>
            </a:r>
            <a:r>
              <a:rPr sz="1300" b="1" i="0">
                <a:solidFill>
                  <a:srgbClr val="10151E"/>
                </a:solidFill>
                <a:latin typeface="Helvetica Neue"/>
              </a:rPr>
              <a:t>absent → acquired (temp) → installed (target) → temp cleaned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331720"/>
            <a:ext cx="1965960" cy="786384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1965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1 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4328" y="2331720"/>
            <a:ext cx="8897112" cy="786384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331720"/>
            <a:ext cx="8549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72"/>
                </a:solidFill>
                <a:latin typeface="Helvetica Neue"/>
              </a:rPr>
              <a:t>&lt;extension-name&gt;, optional &lt;target-repo-dir&gt; (default .), optional --ref &lt;pinned-ref&gt;. Writes nothing yet.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27832"/>
            <a:ext cx="1965960" cy="786384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27832"/>
            <a:ext cx="1965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2  FETCH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8" y="3227832"/>
            <a:ext cx="8897112" cy="786384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227832"/>
            <a:ext cx="8549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72"/>
                </a:solidFill>
                <a:latin typeface="Helvetica Neue"/>
              </a:rPr>
              <a:t>Shallow, blobless, sparse git clone --depth 1 --filter=blob:none --sparse against the pinned ref → temp dir. Falls back to codeload tarball. Target repo untouched.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23944"/>
            <a:ext cx="1965960" cy="786384"/>
          </a:xfrm>
          <a:prstGeom prst="rect">
            <a:avLst/>
          </a:prstGeom>
          <a:solidFill>
            <a:srgbClr val="0E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123944"/>
            <a:ext cx="1965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3  DELEGATE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4328" y="4123944"/>
            <a:ext cx="8897112" cy="786384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4123944"/>
            <a:ext cx="8549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72"/>
                </a:solidFill>
                <a:latin typeface="Helvetica Neue"/>
              </a:rPr>
              <a:t>Invokes the extension's own unmodified install.sh &lt;target&gt;. The load-bearing additivity guarantee (D45): bootstrap writes nothing the local installer wouldn't. The write here is the existing install.sh — unchanged.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020056"/>
            <a:ext cx="1965960" cy="786384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020056"/>
            <a:ext cx="1965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4  CLEANUP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24328" y="5020056"/>
            <a:ext cx="8897112" cy="786384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5020056"/>
            <a:ext cx="8549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472"/>
                </a:solidFill>
                <a:latin typeface="Helvetica Neue"/>
              </a:rPr>
              <a:t>Temp dir removed on exit, including failure paths.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172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9AA4B2"/>
                </a:solidFill>
                <a:latin typeface="Helvetica Neue"/>
              </a:rPr>
              <a:t>No model session appears anywhere in this pipeline.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ARCHITECTURE &amp; DATA FLOW — E2 + US3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check-conformance.py (I-11) &amp; four surgical edits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5212080" cy="42976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212080" cy="457200"/>
          </a:xfrm>
          <a:prstGeom prst="rect">
            <a:avLst/>
          </a:prstGeom>
          <a:solidFill>
            <a:srgbClr val="0E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check-conformance.py — read-only, mutates nothing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E8F8A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0E8F8A"/>
                </a:solidFill>
                <a:latin typeface="Helvetica Neue"/>
              </a:rPr>
              <a:t>Delegate  </a:t>
            </a:r>
            <a:r>
              <a:rPr sz="1250" b="0">
                <a:solidFill>
                  <a:srgbClr val="5A6472"/>
                </a:solidFill>
                <a:latin typeface="Helvetica Neue"/>
              </a:rPr>
              <a:t>reads the 3 validators' verdicts (exit code + stderr), never their source (FR-008)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E8F8A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0E8F8A"/>
                </a:solidFill>
                <a:latin typeface="Helvetica Neue"/>
              </a:rPr>
              <a:t>Direct-check  </a:t>
            </a:r>
            <a:r>
              <a:rPr sz="1250" b="0">
                <a:solidFill>
                  <a:srgbClr val="5A6472"/>
                </a:solidFill>
                <a:latin typeface="Helvetica Neue"/>
              </a:rPr>
              <a:t>6 remaining contracts read from docs/contracts/*.md itself — not the deferred M0 fixture (FR-005)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E8F8A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0E8F8A"/>
                </a:solidFill>
                <a:latin typeface="Helvetica Neue"/>
              </a:rPr>
              <a:t>Carve-out  </a:t>
            </a:r>
            <a:r>
              <a:rPr sz="1250" b="0">
                <a:solidFill>
                  <a:srgbClr val="5A6472"/>
                </a:solidFill>
                <a:latin typeface="Helvetica Neue"/>
              </a:rPr>
              <a:t>D50 meta-feature rule-5 honored, not flagged as drift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E8F8A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0E8F8A"/>
                </a:solidFill>
                <a:latin typeface="Helvetica Neue"/>
              </a:rPr>
              <a:t>Output  </a:t>
            </a:r>
            <a:r>
              <a:rPr sz="1250" b="0">
                <a:solidFill>
                  <a:srgbClr val="5A6472"/>
                </a:solidFill>
                <a:latin typeface="Helvetica Neue"/>
              </a:rPr>
              <a:t>deterministic verdict; one &lt;artifact&gt;·&lt;rule&gt; line per nonconformance; exit 0 / non-zero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E8F8A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0E8F8A"/>
                </a:solidFill>
                <a:latin typeface="Helvetica Neue"/>
              </a:rPr>
              <a:t>Self-test  </a:t>
            </a:r>
            <a:r>
              <a:rPr sz="1250" b="0">
                <a:solidFill>
                  <a:srgbClr val="5A6472"/>
                </a:solidFill>
                <a:latin typeface="Helvetica Neue"/>
              </a:rPr>
              <a:t>embeds _self_test(), mirroring validate-profile.py's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0151E"/>
                </a:solidFill>
                <a:latin typeface="Helvetica Neue"/>
              </a:rPr>
              <a:t>Four surgical hardenings (US3) — each a single-site edit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0" y="2286000"/>
          <a:ext cx="5394960" cy="3657600"/>
        </p:xfrm>
        <a:graphic>
          <a:graphicData uri="http://schemas.openxmlformats.org/drawingml/2006/table">
            <a:tbl>
              <a:tblPr/>
              <a:tblGrid>
                <a:gridCol w="868680"/>
                <a:gridCol w="45262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Item</a:t>
                      </a:r>
                    </a:p>
                  </a:txBody>
                  <a:tcPr anchor="ctr" marL="82296" marR="82296" marT="36576" marB="36576">
                    <a:solidFill>
                      <a:srgbClr val="1015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Site &amp; fix</a:t>
                      </a:r>
                    </a:p>
                  </a:txBody>
                  <a:tcPr anchor="ctr" marL="82296" marR="82296" marT="36576" marB="36576">
                    <a:solidFill>
                      <a:srgbClr val="10151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27A1E"/>
                          </a:solidFill>
                          <a:latin typeface="Helvetica Neue"/>
                        </a:rPr>
                        <a:t>I-23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5A6472"/>
                          </a:solidFill>
                          <a:latin typeface="Helvetica Neue"/>
                        </a:rPr>
                        <a:t>git/install.sh manual block + full-manifest guard (FR-011)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27A1E"/>
                          </a:solidFill>
                          <a:latin typeface="Helvetica Neue"/>
                        </a:rPr>
                        <a:t>I-26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5A6472"/>
                          </a:solidFill>
                          <a:latin typeface="Helvetica Neue"/>
                        </a:rPr>
                        <a:t>augment_merge.py L120: strip trailing #… before dequote()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27A1E"/>
                          </a:solidFill>
                          <a:latin typeface="Helvetica Neue"/>
                        </a:rPr>
                        <a:t>I-29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5A6472"/>
                          </a:solidFill>
                          <a:latin typeface="Helvetica Neue"/>
                        </a:rPr>
                        <a:t>council SKILLs: record extensions/council/ @ &lt;sha&gt; provenance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27A1E"/>
                          </a:solidFill>
                          <a:latin typeface="Helvetica Neue"/>
                        </a:rPr>
                        <a:t>I-31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5A6472"/>
                          </a:solidFill>
                          <a:latin typeface="Helvetica Neue"/>
                        </a:rPr>
                        <a:t>implement-parallel: gitignored-only output writes artifact: null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26480" y="59436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9AA4B2"/>
                </a:solidFill>
                <a:latin typeface="Helvetica Neue"/>
              </a:rPr>
              <a:t>All four additive &amp; gate-semantics-neutral (FR-015); performed by the edited file itself the next time it runs.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STRUCTURE &amp; GRAPH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Independently verified against graph.json (4863 nodes · 5788 edges)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5AE0"/>
                </a:solidFill>
                <a:latin typeface="Helvetica Neue"/>
              </a:rPr>
              <a:t>GRAPHIFY-VERIFIED, NOT RESTATED FROM PROSE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0151E"/>
                </a:solidFill>
                <a:latin typeface="Helvetica Neue"/>
              </a:rPr>
              <a:t>validate-profile.py — degree 27  </a:t>
            </a:r>
            <a:r>
              <a:rPr sz="1300" b="0">
                <a:solidFill>
                  <a:srgbClr val="5A6472"/>
                </a:solidFill>
                <a:latin typeface="Helvetica Neue"/>
              </a:rPr>
              <a:t>pattern-to-follow for the checker; only a runtime shell-out is added, no source edge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0151E"/>
                </a:solidFill>
                <a:latin typeface="Helvetica Neue"/>
              </a:rPr>
              <a:t>parse_hook_commands() — degree 4  </a:t>
            </a:r>
            <a:r>
              <a:rPr sz="1300" b="0">
                <a:solidFill>
                  <a:srgbClr val="5A6472"/>
                </a:solidFill>
                <a:latin typeface="Helvetica Neue"/>
              </a:rPr>
              <a:t>I-26's fix is scoped entirely inside this node's body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0151E"/>
                </a:solidFill>
                <a:latin typeface="Helvetica Neue"/>
              </a:rPr>
              <a:t>dequote() — degree 4, three callers  </a:t>
            </a:r>
            <a:r>
              <a:rPr sz="1300" b="0">
                <a:solidFill>
                  <a:srgbClr val="5A6472"/>
                </a:solidFill>
                <a:latin typeface="Helvetica Neue"/>
              </a:rPr>
              <a:t>strip must happen before the call, inside parse_hook_commands() only — never inside dequote()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C0392B"/>
                </a:solidFill>
                <a:latin typeface="Helvetica Neue"/>
              </a:rPr>
              <a:t>print_manual_block() — collision!  </a:t>
            </a:r>
            <a:r>
              <a:rPr sz="1300" b="0">
                <a:solidFill>
                  <a:srgbClr val="5A6472"/>
                </a:solidFill>
                <a:latin typeface="Helvetica Neue"/>
              </a:rPr>
              <a:t>multiple same-named nodes; unqualified lookup resolves to deck-render's copy, not git's — I-23 targets git/install.sh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5074920" cy="4297680"/>
          </a:xfrm>
          <a:prstGeom prst="rect">
            <a:avLst/>
          </a:prstGeom>
          <a:solidFill>
            <a:srgbClr val="FB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783080"/>
            <a:ext cx="5074920" cy="457200"/>
          </a:xfrm>
          <a:prstGeom prst="rect">
            <a:avLst/>
          </a:prstGeom>
          <a:solidFill>
            <a:srgbClr val="C2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SHARED / MUTABLE — never in one parallel wave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50592"/>
            <a:ext cx="46177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C27A1E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10151E"/>
                </a:solidFill>
                <a:latin typeface="Helvetica Neue"/>
              </a:rPr>
              <a:t>docs/90-DECISIONS-AND-IDEAS.md  </a:t>
            </a:r>
            <a:r>
              <a:rPr sz="1250" b="0">
                <a:solidFill>
                  <a:srgbClr val="5A6472"/>
                </a:solidFill>
                <a:latin typeface="Helvetica Neue"/>
              </a:rPr>
              <a:t>all six close-outs land here — serialize (FR-016)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C27A1E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10151E"/>
                </a:solidFill>
                <a:latin typeface="Helvetica Neue"/>
              </a:rPr>
              <a:t>git/extension.yml + install.sh  </a:t>
            </a:r>
            <a:r>
              <a:rPr sz="1250" b="0">
                <a:solidFill>
                  <a:srgbClr val="5A6472"/>
                </a:solidFill>
                <a:latin typeface="Helvetica Neue"/>
              </a:rPr>
              <a:t>manifest &amp; manual block move in lock-step, one task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C27A1E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10151E"/>
                </a:solidFill>
                <a:latin typeface="Helvetica Neue"/>
              </a:rPr>
              <a:t>README.md quickstart  </a:t>
            </a:r>
            <a:r>
              <a:rPr sz="1250" b="0">
                <a:solidFill>
                  <a:srgbClr val="5A6472"/>
                </a:solidFill>
                <a:latin typeface="Helvetica Neue"/>
              </a:rPr>
              <a:t>I-32 doc target — serialize if anything else touches 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C27A1E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10151E"/>
                </a:solidFill>
                <a:latin typeface="Helvetica Neue"/>
              </a:rPr>
              <a:t>.specify/extensions.yml mirror  </a:t>
            </a:r>
            <a:r>
              <a:rPr sz="1250" b="0">
                <a:solidFill>
                  <a:srgbClr val="5A6472"/>
                </a:solidFill>
                <a:latin typeface="Helvetica Neue"/>
              </a:rPr>
              <a:t>reinstall risks manifest↔mirror drift — re-sync as separate 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Top risks and their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810512"/>
          <a:ext cx="10881360" cy="4251960"/>
        </p:xfrm>
        <a:graphic>
          <a:graphicData uri="http://schemas.openxmlformats.org/drawingml/2006/table">
            <a:tbl>
              <a:tblPr/>
              <a:tblGrid>
                <a:gridCol w="3794760"/>
                <a:gridCol w="566928"/>
                <a:gridCol w="566928"/>
                <a:gridCol w="595274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Risk</a:t>
                      </a:r>
                    </a:p>
                  </a:txBody>
                  <a:tcPr anchor="ctr" marL="82296" marR="82296" marT="36576" marB="36576">
                    <a:solidFill>
                      <a:srgbClr val="1015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L</a:t>
                      </a:r>
                    </a:p>
                  </a:txBody>
                  <a:tcPr anchor="ctr" marL="82296" marR="82296" marT="36576" marB="36576">
                    <a:solidFill>
                      <a:srgbClr val="1015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I</a:t>
                      </a:r>
                    </a:p>
                  </a:txBody>
                  <a:tcPr anchor="ctr" marL="82296" marR="82296" marT="36576" marB="36576">
                    <a:solidFill>
                      <a:srgbClr val="1015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</a:rPr>
                        <a:t>Mitigation</a:t>
                      </a:r>
                    </a:p>
                  </a:txBody>
                  <a:tcPr anchor="ctr" marL="82296" marR="82296" marT="36576" marB="36576">
                    <a:solidFill>
                      <a:srgbClr val="10151E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0151E"/>
                          </a:solidFill>
                          <a:latin typeface="Helvetica Neue"/>
                        </a:rPr>
                        <a:t>Clone-free fetch invites a “blind pipe-to-shell” posture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27A1E"/>
                          </a:solidFill>
                          <a:latin typeface="Helvetica Neue"/>
                        </a:rPr>
                        <a:t>Med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27A1E"/>
                          </a:solidFill>
                          <a:latin typeface="Helvetica Neue"/>
                        </a:rPr>
                        <a:t>Med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5A6472"/>
                          </a:solidFill>
                          <a:latin typeface="Helvetica Neue"/>
                        </a:rPr>
                        <a:t>Default is the reviewable two-step form vs. a pinned ref; one-liner secondary. Checksum/signature pinning deferred — flagged open for council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0151E"/>
                          </a:solidFill>
                          <a:latin typeface="Helvetica Neue"/>
                        </a:rPr>
                        <a:t>docs/90 close-out is a single shared append target hit by all six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Helvetica Neue"/>
                        </a:rPr>
                        <a:t>High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E8E4E"/>
                          </a:solidFill>
                          <a:latin typeface="Helvetica Neue"/>
                        </a:rPr>
                        <a:t>Low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5A6472"/>
                          </a:solidFill>
                          <a:latin typeface="Helvetica Neue"/>
                        </a:rPr>
                        <a:t>By design (FR-016 same-session close); append-only. Collision watch flags it — close-out runs serialized, never in a wave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0151E"/>
                          </a:solidFill>
                          <a:latin typeface="Helvetica Neue"/>
                        </a:rPr>
                        <a:t>git-ext manifest / manual-block re-divergence on a future hook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27A1E"/>
                          </a:solidFill>
                          <a:latin typeface="Helvetica Neue"/>
                        </a:rPr>
                        <a:t>Med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27A1E"/>
                          </a:solidFill>
                          <a:latin typeface="Helvetica Neue"/>
                        </a:rPr>
                        <a:t>Med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5A6472"/>
                          </a:solidFill>
                          <a:latin typeface="Helvetica Neue"/>
                        </a:rPr>
                        <a:t>FR-011 guard generalized to the full manifest; H1 requires proving the guard FAILS on the current pre-fix state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0151E"/>
                          </a:solidFill>
                          <a:latin typeface="Helvetica Neue"/>
                        </a:rPr>
                        <a:t>I-26 strip touches dequote()'s shared call site (2 other callers)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E8E4E"/>
                          </a:solidFill>
                          <a:latin typeface="Helvetica Neue"/>
                        </a:rPr>
                        <a:t>Low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27A1E"/>
                          </a:solidFill>
                          <a:latin typeface="Helvetica Neue"/>
                        </a:rPr>
                        <a:t>Med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5A6472"/>
                          </a:solidFill>
                          <a:latin typeface="Helvetica Neue"/>
                        </a:rPr>
                        <a:t>Scoped to strip before dequote(), inside parse_hook_commands() only — but no fixture proves the other two callers (see §7)</a:t>
                      </a:r>
                    </a:p>
                  </a:txBody>
                  <a:tcPr anchor="ctr" marL="82296" marR="82296" marT="36576" marB="36576">
                    <a:solidFill>
                      <a:srgbClr val="F3F5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0151E"/>
                          </a:solidFill>
                          <a:latin typeface="Helvetica Neue"/>
                        </a:rPr>
                        <a:t>Pinned --ref default goes stale at the D73 visibility flip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27A1E"/>
                          </a:solidFill>
                          <a:latin typeface="Helvetica Neue"/>
                        </a:rPr>
                        <a:t>Med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E8E4E"/>
                          </a:solidFill>
                          <a:latin typeface="Helvetica Neue"/>
                        </a:rPr>
                        <a:t>Low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5A6472"/>
                          </a:solidFill>
                          <a:latin typeface="Helvetica Neue"/>
                        </a:rPr>
                        <a:t>Transport / pin wording explicitly flagged “open for council” in research R1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COST &amp;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Bounded AI-assisted review, then a pre-scoped batch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5AE0"/>
                </a:solidFill>
                <a:latin typeface="Helvetica Neue"/>
              </a:rPr>
              <a:t>SESSION LEDGER (D18 MODEL POLICY)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86000"/>
            <a:ext cx="512064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5915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Deck-prep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3347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472"/>
                </a:solidFill>
                <a:latin typeface="Helvetica Neue"/>
              </a:rPr>
              <a:t>1 Sonnet (this one)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017520"/>
            <a:ext cx="512064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09067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Council — standard tier (D56)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3649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472"/>
                </a:solidFill>
                <a:latin typeface="Helvetica Neue"/>
              </a:rPr>
              <a:t>5 members + 1 consolidated peer critique + 1 Opus chairman =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749040"/>
            <a:ext cx="512064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82219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0965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472"/>
                </a:solidFill>
                <a:latin typeface="Helvetica Neue"/>
              </a:rPr>
              <a:t>1 Opus (judgment role, D18)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480560"/>
            <a:ext cx="512064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55371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280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472"/>
                </a:solidFill>
                <a:latin typeface="Helvetica Neue"/>
              </a:rPr>
              <a:t>Sonnet; count resolves at /speckit-tasks (not yet generated)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212080"/>
            <a:ext cx="512064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28523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5595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472"/>
                </a:solidFill>
                <a:latin typeface="Helvetica Neue"/>
              </a:rPr>
              <a:t>1 Sonnet tester (single-dispatch)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783080"/>
            <a:ext cx="5486400" cy="4160520"/>
          </a:xfrm>
          <a:prstGeom prst="rect">
            <a:avLst/>
          </a:prstGeom>
          <a:solidFill>
            <a:srgbClr val="EC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1783080"/>
            <a:ext cx="109728" cy="4160520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011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E8E4E"/>
                </a:solidFill>
                <a:latin typeface="Helvetica Neue"/>
              </a:rPr>
              <a:t>COMPLEXITY DRIVERS — NONE BEYOND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>
                <a:solidFill>
                  <a:srgbClr val="1E8E4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0151E"/>
                </a:solidFill>
                <a:latin typeface="Helvetica Neue"/>
              </a:rPr>
              <a:t>Zero</a:t>
            </a:r>
            <a:r>
              <a:rPr sz="1350" b="0">
                <a:solidFill>
                  <a:srgbClr val="5A6472"/>
                </a:solidFill>
                <a:latin typeface="Helvetica Neue"/>
              </a:rPr>
              <a:t> new third-party dependencies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>
                <a:solidFill>
                  <a:srgbClr val="1E8E4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0151E"/>
                </a:solidFill>
                <a:latin typeface="Helvetica Neue"/>
              </a:rPr>
              <a:t>No</a:t>
            </a:r>
            <a:r>
              <a:rPr sz="1350" b="0">
                <a:solidFill>
                  <a:srgbClr val="5A6472"/>
                </a:solidFill>
                <a:latin typeface="Helvetica Neue"/>
              </a:rPr>
              <a:t> new pipeline phase or session role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>
                <a:solidFill>
                  <a:srgbClr val="1E8E4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0151E"/>
                </a:solidFill>
                <a:latin typeface="Helvetica Neue"/>
              </a:rPr>
              <a:t>No</a:t>
            </a:r>
            <a:r>
              <a:rPr sz="1350" b="0">
                <a:solidFill>
                  <a:srgbClr val="5A6472"/>
                </a:solidFill>
                <a:latin typeface="Helvetica Neue"/>
              </a:rPr>
              <a:t> gate-semantics change (FR-015)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>
                <a:solidFill>
                  <a:srgbClr val="1E8E4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0151E"/>
                </a:solidFill>
                <a:latin typeface="Helvetica Neue"/>
              </a:rPr>
              <a:t>Empty</a:t>
            </a:r>
            <a:r>
              <a:rPr sz="1350" b="0">
                <a:solidFill>
                  <a:srgbClr val="5A6472"/>
                </a:solidFill>
                <a:latin typeface="Helvetica Neue"/>
              </a:rPr>
              <a:t> Complexity Tracking table — no Constitution violations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>
                <a:solidFill>
                  <a:srgbClr val="1E8E4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0151E"/>
                </a:solidFill>
                <a:latin typeface="Helvetica Neue"/>
              </a:rPr>
              <a:t>Only real driver: </a:t>
            </a:r>
            <a:r>
              <a:rPr sz="1350" b="0">
                <a:solidFill>
                  <a:srgbClr val="5A6472"/>
                </a:solidFill>
                <a:latin typeface="Helvetica Neue"/>
              </a:rPr>
              <a:t>scheduling, not architecture — the shared-file collision surface requires serialized task ordering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TESTABILITY — THE HONEST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3 of 10 Success Criteria carry a committed both-branch fixture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3502152" cy="21488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3502152" cy="91440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3502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1E8E4E"/>
                </a:solidFill>
                <a:latin typeface="Helvetica Neue"/>
              </a:rPr>
              <a:t>3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Committed automated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both-branch fixtures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61188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472"/>
                </a:solidFill>
                <a:latin typeface="Helvetica Neue"/>
              </a:rPr>
              <a:t>SC-004 · SC-006 · SC-007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828800"/>
            <a:ext cx="3502152" cy="21488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828800"/>
            <a:ext cx="3502152" cy="91440"/>
          </a:xfrm>
          <a:prstGeom prst="rect">
            <a:avLst/>
          </a:prstGeom>
          <a:solidFill>
            <a:srgbClr val="C2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8536" y="2057400"/>
            <a:ext cx="3502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C27A1E"/>
                </a:solidFill>
                <a:latin typeface="Helvetica Neue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971800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Partial (harness re-run;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no-dup is a design property)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361188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472"/>
                </a:solidFill>
                <a:latin typeface="Helvetica Neue"/>
              </a:rPr>
              <a:t>SC-005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8704" y="1828800"/>
            <a:ext cx="3502152" cy="21488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18704" y="1828800"/>
            <a:ext cx="3502152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8704" y="2057400"/>
            <a:ext cx="3502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C0392B"/>
                </a:solidFill>
                <a:latin typeface="Helvetica Neue"/>
              </a:rPr>
              <a:t>6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2971800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Manual-verification-only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0151E"/>
                </a:solidFill>
                <a:latin typeface="Helvetica Neue"/>
              </a:rPr>
              <a:t>per plan's own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4" y="361188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472"/>
                </a:solidFill>
                <a:latin typeface="Helvetica Neue"/>
              </a:rPr>
              <a:t>SC-001/2/3 · 008/9/10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25196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0392B"/>
                </a:solidFill>
                <a:latin typeface="Helvetica Neue"/>
              </a:rPr>
              <a:t>The honest framing:  </a:t>
            </a:r>
            <a:r>
              <a:rPr sz="1400" b="0" i="0">
                <a:solidFill>
                  <a:srgbClr val="10151E"/>
                </a:solidFill>
                <a:latin typeface="Helvetica Neue"/>
              </a:rPr>
              <a:t>most manual-only criteria are inherently hard to fixture — a live council round, a live implement-parallel run, a true first-time-outsider install. But that means their guarantees rest on the quickstart being </a:t>
            </a:r>
            <a:r>
              <a:rPr sz="1400" b="1" i="0">
                <a:solidFill>
                  <a:srgbClr val="10151E"/>
                </a:solidFill>
                <a:latin typeface="Helvetica Neue"/>
              </a:rPr>
              <a:t>run by a human</a:t>
            </a:r>
            <a:r>
              <a:rPr sz="1400" b="0" i="0">
                <a:solidFill>
                  <a:srgbClr val="10151E"/>
                </a:solidFill>
                <a:latin typeface="Helvetica Neue"/>
              </a:rPr>
              <a:t>, not on a regression suite that fails loudly on a future break.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TWO GUARDS, ONE REAL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The round-1 lesson: a guard that can only ever pass proves nothing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5349240" cy="3931920"/>
          </a:xfrm>
          <a:prstGeom prst="rect">
            <a:avLst/>
          </a:prstGeom>
          <a:solidFill>
            <a:srgbClr val="EC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5349240" cy="548640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✓  I-23 divergence guard — falsifiable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06040"/>
            <a:ext cx="48920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0151E"/>
                </a:solidFill>
                <a:latin typeface="Helvetica Neue"/>
              </a:rPr>
              <a:t>H1's contract explicitly requires the guard to FAIL on the current pre-fix manifest/block state (proving it's real) and to PASS post-fix.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E8E4E"/>
                </a:solidFill>
                <a:latin typeface="Helvetica Neue"/>
              </a:rPr>
              <a:t>Genuinely both-branch. Directly answers the round-1 lesson.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1874519"/>
            <a:ext cx="5349240" cy="3931920"/>
          </a:xfrm>
          <a:prstGeom prst="rect">
            <a:avLst/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874519"/>
            <a:ext cx="534924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△  I-26 inline-comment strip — a gap we 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606040"/>
            <a:ext cx="48920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0151E"/>
                </a:solidFill>
                <a:latin typeface="Helvetica Neue"/>
              </a:rPr>
              <a:t>The fixture set proves the strip works across whitespace variants — but dequote() has two other callers (parse_shell, resolve_target).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C0392B"/>
                </a:solidFill>
                <a:latin typeface="Helvetica Neue"/>
              </a:rPr>
              <a:t>No committed fixture exercises them to prove the edit didn't regress the two other call sites. Same shape of gap round-1 found from two lenses.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5AE0"/>
                </a:solidFill>
                <a:latin typeface="Helvetica Neue"/>
              </a:rPr>
              <a:t>WHAT “DONE”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151E"/>
                </a:solidFill>
                <a:latin typeface="Helvetica Neue"/>
              </a:rPr>
              <a:t>And the two things we ask the council to weigh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778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5AE0"/>
                </a:solidFill>
                <a:latin typeface="Helvetica Neue"/>
              </a:rPr>
              <a:t>DEFINITION OF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4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400" b="0">
                <a:solidFill>
                  <a:srgbClr val="10151E"/>
                </a:solidFill>
                <a:latin typeface="Helvetica Neue"/>
              </a:rPr>
              <a:t>A newcomer installs one piece with a single copy-pasted command — no separate clone step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4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400" b="0">
                <a:solidFill>
                  <a:srgbClr val="10151E"/>
                </a:solidFill>
                <a:latin typeface="Helvetica Neue"/>
              </a:rPr>
              <a:t>The checker can be pointed at any feature's dir and says pass or fail, naming exactly what's wrong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4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400" b="0">
                <a:solidFill>
                  <a:srgbClr val="10151E"/>
                </a:solidFill>
                <a:latin typeface="Helvetica Neue"/>
              </a:rPr>
              <a:t>Four previously-silent problems stop happening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40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0151E"/>
                </a:solidFill>
                <a:latin typeface="Helvetica Neue"/>
              </a:rPr>
              <a:t>docs/90 shows all six I-rows closed — one clean step from the D73 public flip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5074920" cy="4160520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783080"/>
            <a:ext cx="5074920" cy="502920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663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OPEN FOR COUNCIL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46177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35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9FB4F5"/>
                </a:solidFill>
                <a:latin typeface="Helvetica Neue"/>
              </a:rPr>
              <a:t>Transport &amp; pin wording  </a:t>
            </a:r>
            <a:r>
              <a:rPr sz="1350" b="0">
                <a:solidFill>
                  <a:srgbClr val="C8D0DE"/>
                </a:solidFill>
                <a:latin typeface="Helvetica Neue"/>
              </a:rPr>
              <a:t>the two-step vs. one-liner posture and the pinned-ref default at the visibility flip (research R1)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35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9FB4F5"/>
                </a:solidFill>
                <a:latin typeface="Helvetica Neue"/>
              </a:rPr>
              <a:t>The I-26 fixture gap  </a:t>
            </a:r>
            <a:r>
              <a:rPr sz="1350" b="0">
                <a:solidFill>
                  <a:srgbClr val="C8D0DE"/>
                </a:solidFill>
                <a:latin typeface="Helvetica Neue"/>
              </a:rPr>
              <a:t>is proving the two other dequote() callers unaffected in-scope for this sweep, or a documented follow-up?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4B2"/>
                </a:solidFill>
                <a:latin typeface="Helvetica Neue"/>
              </a:rPr>
              <a:t>008 · Pre-Public Maintenance — Plan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A4B2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FB4F5"/>
                </a:solidFill>
                <a:latin typeface="Helvetica Neue"/>
              </a:rPr>
              <a:t>ROUND-1 OUTCOME  ·  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515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The council convened — and every suggestion was resolved.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514600" cy="1554480"/>
          </a:xfrm>
          <a:prstGeom prst="rect">
            <a:avLst/>
          </a:prstGeom>
          <a:solidFill>
            <a:srgbClr val="23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251460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Helvetica Neue"/>
              </a:rPr>
              <a:t>Blocking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008" y="2148840"/>
            <a:ext cx="2514600" cy="1554480"/>
          </a:xfrm>
          <a:prstGeom prst="rect">
            <a:avLst/>
          </a:prstGeom>
          <a:solidFill>
            <a:srgbClr val="23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008" y="2148840"/>
            <a:ext cx="2514600" cy="91440"/>
          </a:xfrm>
          <a:prstGeom prst="rect">
            <a:avLst/>
          </a:prstGeom>
          <a:solidFill>
            <a:srgbClr val="C2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3774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329184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27A1E"/>
                </a:solidFill>
                <a:latin typeface="Helvetica Neue"/>
              </a:rPr>
              <a:t>Strong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2148840"/>
            <a:ext cx="2514600" cy="1554480"/>
          </a:xfrm>
          <a:prstGeom prst="rect">
            <a:avLst/>
          </a:prstGeom>
          <a:solidFill>
            <a:srgbClr val="23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2148840"/>
            <a:ext cx="2514600" cy="91440"/>
          </a:xfrm>
          <a:prstGeom prst="rect">
            <a:avLst/>
          </a:prstGeom>
          <a:solidFill>
            <a:srgbClr val="0E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23774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329184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8F8A"/>
                </a:solidFill>
                <a:latin typeface="Helvetica Neue"/>
              </a:rPr>
              <a:t>Consider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3104" y="2148840"/>
            <a:ext cx="2514600" cy="1554480"/>
          </a:xfrm>
          <a:prstGeom prst="rect">
            <a:avLst/>
          </a:prstGeom>
          <a:solidFill>
            <a:srgbClr val="23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33104" y="2148840"/>
            <a:ext cx="2514600" cy="91440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4" y="23774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329184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8E4E"/>
                </a:solidFill>
                <a:latin typeface="Helvetica Neue"/>
              </a:rPr>
              <a:t>Resolved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FFFFFF"/>
                </a:solidFill>
                <a:latin typeface="Helvetica Neue"/>
              </a:rPr>
              <a:t>Applied R1-S01–S17, S19–S24  </a:t>
            </a:r>
            <a:r>
              <a:rPr sz="1350" b="0">
                <a:solidFill>
                  <a:srgbClr val="C8D0DE"/>
                </a:solidFill>
                <a:latin typeface="Helvetica Neue"/>
              </a:rPr>
              <a:t>accepted suggestions committed into plan.md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FFFFFF"/>
                </a:solidFill>
                <a:latin typeface="Helvetica Neue"/>
              </a:rPr>
              <a:t>One blocking suggestion  </a:t>
            </a:r>
            <a:r>
              <a:rPr sz="1350" b="0">
                <a:solidFill>
                  <a:srgbClr val="C8D0DE"/>
                </a:solidFill>
                <a:latin typeface="Helvetica Neue"/>
              </a:rPr>
              <a:t>forced a single revision + a chairman-only delta check (FR-010) — all resolved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F5AE0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FFFFFF"/>
                </a:solidFill>
                <a:latin typeface="Helvetica Neue"/>
              </a:rPr>
              <a:t>Every suggestion  </a:t>
            </a:r>
            <a:r>
              <a:rPr sz="1350" b="0">
                <a:solidFill>
                  <a:srgbClr val="C8D0DE"/>
                </a:solidFill>
                <a:latin typeface="Helvetica Neue"/>
              </a:rPr>
              <a:t>got exactly one disposition with reasoning (D13.5), append-only in the decision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A4B2"/>
                </a:solidFill>
                <a:latin typeface="Helvetica Neue"/>
              </a:rPr>
              <a:t>Source: specs/008-pre-public-maintenance/council/decision-record.md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